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5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68" r:id="rId15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800" b="1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Analysis of Machine Learning Algorithms for Heart Disease Prediction</a:t>
            </a:r>
            <a:endParaRPr lang="en-US" sz="28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I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Tamanna Kansal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2210992436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Isha Kansal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540385" y="0"/>
            <a:ext cx="3346450" cy="837565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39700" lvl="0" indent="0">
              <a:buClr>
                <a:srgbClr val="000000"/>
              </a:buClr>
              <a:buSzPts val="1400"/>
              <a:buNone/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TextShape 2"/>
          <p:cNvSpPr txBox="1"/>
          <p:nvPr/>
        </p:nvSpPr>
        <p:spPr>
          <a:xfrm>
            <a:off x="290830" y="1236980"/>
            <a:ext cx="8487410" cy="48387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globally, with approximately 17.9 million deaths annually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plays a critical role in reducing mortality and improving patient outcomes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diagnosis:</a:t>
            </a:r>
            <a:endParaRPr lang="en-US" alt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expert analysis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provides:</a:t>
            </a:r>
            <a:endParaRPr lang="en-US" alt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predictions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for doctors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5730" y="0"/>
            <a:ext cx="5936615" cy="913765"/>
          </a:xfrm>
        </p:spPr>
        <p:txBody>
          <a:bodyPr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>
          <a:xfrm>
            <a:off x="455930" y="1458595"/>
            <a:ext cx="8133080" cy="4525645"/>
          </a:xfrm>
        </p:spPr>
        <p:txBody>
          <a:bodyPr/>
          <a:p>
            <a:pPr algn="just" fontAlgn="auto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Although many studies exist for heart disease prediction, most focus only on accuracy and do not consider important clinical metrics like recall and F1-score or properly handle class imbalance. This can lead to unreliable models that may miss actual disease cases. Therefore, this study aims to perform a systematic comparison of multiple machine learning algorithms under the same conditions.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evaluate their performance using comprehensive metrics, analyze the impact of SMOTE, and identify the most effective model for accurate and clinically reliable prediction.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" y="-239395"/>
            <a:ext cx="7104380" cy="1419860"/>
          </a:xfrm>
        </p:spPr>
        <p:txBody>
          <a:bodyPr/>
          <a:p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  <a:endParaRPr lang="en-I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8965" cy="5200650"/>
          </a:xfrm>
        </p:spPr>
        <p:txBody>
          <a:bodyPr/>
          <a:p>
            <a:pPr marL="0" indent="0">
              <a:buNone/>
            </a:pP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altLang="en-US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Source: UCI Heart Disease Dataset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1025 patient samples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 13 clinical attributes + 1 target variable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0 → No heart disease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→ Presence of heart disease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370205" y="1129030"/>
            <a:ext cx="8315960" cy="4980940"/>
          </a:xfrm>
        </p:spPr>
        <p:txBody>
          <a:bodyPr/>
          <a:p>
            <a:pPr marL="0" indent="0"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Handling: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Replaced missing values using mean imputation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and inconsistent records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Encoding: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features into numerical form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Applied StandardScaler to normalize data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 data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95" y="0"/>
            <a:ext cx="5373370" cy="913765"/>
          </a:xfrm>
        </p:spPr>
        <p:txBody>
          <a:bodyPr/>
          <a:p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034415"/>
            <a:ext cx="8228965" cy="5213985"/>
          </a:xfrm>
        </p:spPr>
        <p:txBody>
          <a:bodyPr/>
          <a:p>
            <a:pPr marL="0" indent="0"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Handling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Dataset had slight imbalance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Applied SMOTE (Synthetic Minority Oversampling Technique)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synthetic samples for minority class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Applied only on training data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Accuracy: Overall correct predictions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Correct positive predictions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Recall: Ability to detect actual patients (most important)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F1-score: Balance of precision &amp; recall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ROC-AUC: Model’s classification ability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" y="0"/>
            <a:ext cx="5346065" cy="913765"/>
          </a:xfrm>
        </p:spPr>
        <p:txBody>
          <a:bodyPr/>
          <a:p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Comparison</a:t>
            </a:r>
            <a:endParaRPr lang="en-I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(After SMOTE)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XGBoost → 93.17% (Best performance)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→ 92.68%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SVM → 89.27%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→ 87.32%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→ 81.46%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45" y="0"/>
            <a:ext cx="5303520" cy="913765"/>
          </a:xfrm>
        </p:spPr>
        <p:txBody>
          <a:bodyPr/>
          <a:p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Key Findings</a:t>
            </a:r>
            <a:endParaRPr lang="en-I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020445"/>
            <a:ext cx="8228965" cy="5706110"/>
          </a:xfrm>
        </p:spPr>
        <p:txBody>
          <a:bodyPr/>
          <a:p>
            <a:pPr marL="0" indent="0"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Highest Recall: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XGBoost &amp; Random Forest → 95.24%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Indicates fewer missed heart disease cases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 → useful for initial screening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Lower precision → more false positives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of SMOTE: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Improved Random Forest &amp; Logistic Regression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 effect on Decision Tree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Reduced SVM performance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ROC-AUC Analysis: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achieved ROC-AUC &gt; 0.90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Shows strong classification capability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Recall is most important in healthcare to avoid false negatives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70" y="0"/>
            <a:ext cx="5332095" cy="913765"/>
          </a:xfrm>
        </p:spPr>
        <p:txBody>
          <a:bodyPr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317500" y="1118870"/>
            <a:ext cx="8368665" cy="4778375"/>
          </a:xfrm>
        </p:spPr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significantly improves heart disease prediction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XGBoost is the best-performing model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 and F1-score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 strong alternative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SMOTE improves model fairness but must be applied carefully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Models achieved high reliability with ROC-AUC &gt; 0.90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pPr marL="0" indent="0"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Apply Deep Learning models (ANN, CNN)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Use real-time hospital datasets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Develop hybrid models for better accuracy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system into clinical decision support systems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WPS Presentation</Application>
  <PresentationFormat>On-screen Show (4:3)</PresentationFormat>
  <Paragraphs>139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Tamanna kansal</cp:lastModifiedBy>
  <cp:revision>2301</cp:revision>
  <dcterms:created xsi:type="dcterms:W3CDTF">2010-04-09T07:36:00Z</dcterms:created>
  <dcterms:modified xsi:type="dcterms:W3CDTF">2026-05-02T11:30:28Z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1033-12.1.0.25862</vt:lpwstr>
  </property>
  <property fmtid="{D5CDD505-2E9C-101B-9397-08002B2CF9AE}" pid="15" name="ICV">
    <vt:lpwstr>565B4F58EDC9429295B4AE690E7EFCA8_12</vt:lpwstr>
  </property>
</Properties>
</file>